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Bond %</c:v>
                </c:pt>
              </c:strCache>
            </c:strRef>
          </c:tx>
          <c:spPr>
            <a:solidFill>
              <a:srgbClr val="3ECF8E"/>
            </a:solidFill>
            <a:ln w="38100" cap="flat">
              <a:solidFill>
                <a:srgbClr val="3ECF8E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ECF8E"/>
              </a:solidFill>
              <a:ln w="9525" cap="flat">
                <a:solidFill>
                  <a:srgbClr val="3ECF8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40</c:v>
                  </c:pt>
                  <c:pt idx="1">
                    <c:v>50</c:v>
                  </c:pt>
                  <c:pt idx="2">
                    <c:v>60</c:v>
                  </c:pt>
                  <c:pt idx="3">
                    <c:v>70</c:v>
                  </c:pt>
                  <c:pt idx="4">
                    <c:v>82</c:v>
                  </c:pt>
                  <c:pt idx="5">
                    <c:v>90</c:v>
                  </c:pt>
                  <c:pt idx="6">
                    <c:v>99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60</c:v>
                </c:pt>
                <c:pt idx="1">
                  <c:v>51</c:v>
                </c:pt>
                <c:pt idx="2">
                  <c:v>41</c:v>
                </c:pt>
                <c:pt idx="3">
                  <c:v>32</c:v>
                </c:pt>
                <c:pt idx="4">
                  <c:v>21</c:v>
                </c:pt>
                <c:pt idx="5">
                  <c:v>13</c:v>
                </c:pt>
                <c:pt idx="6">
                  <c:v>5</c:v>
                </c:pt>
              </c:numCache>
            </c:numRef>
          </c:val>
          <c:smooth val="1"/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C7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E7C76"/>
                    </a:solidFill>
                    <a:latin typeface="Arial"/>
                  </a:rPr>
                  <a:t>Reputation score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7A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2733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7A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Limit ($k)</c:v>
                </c:pt>
              </c:strCache>
            </c:strRef>
          </c:tx>
          <c:spPr>
            <a:solidFill>
              <a:srgbClr val="3ECF8E"/>
            </a:solidFill>
            <a:effectLst/>
          </c:spPr>
          <c:invertIfNegative val="0"/>
          <c:dLbls>
            <c:numFmt formatCode="&quot;$&quot;0.0&quot;k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40</c:v>
                  </c:pt>
                  <c:pt idx="1">
                    <c:v>55</c:v>
                  </c:pt>
                  <c:pt idx="2">
                    <c:v>70</c:v>
                  </c:pt>
                  <c:pt idx="3">
                    <c:v>82</c:v>
                  </c:pt>
                  <c:pt idx="4">
                    <c:v>90</c:v>
                  </c:pt>
                  <c:pt idx="5">
                    <c:v>99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4.1</c:v>
                </c:pt>
                <c:pt idx="2">
                  <c:v>6.2</c:v>
                </c:pt>
                <c:pt idx="3">
                  <c:v>7.9</c:v>
                </c:pt>
                <c:pt idx="4">
                  <c:v>9.1</c:v>
                </c:pt>
                <c:pt idx="5">
                  <c:v>10.3</c:v>
                </c:pt>
              </c:numCache>
            </c:numRef>
          </c:val>
        </c:ser>
        <c:dLbls>
          <c:numFmt formatCode="&quot;$&quot;0.0&quot;k&quot;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E7C76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E7C76"/>
                    </a:solidFill>
                    <a:latin typeface="Arial"/>
                  </a:rPr>
                  <a:t>Reputation score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7A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Finora, team CityZen, leader Mukul. Credit infrastructure for autonomous AI agents — Fintech PS-1.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structural: lending assumes identity, collateral and enforceable contracts. Agents have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layers: identity, reputation, credit, enforcement, guardrails. Borrowing policy and spending enforcement are the same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design. Signed EIP-712 identity, behavioral underwriting, cold-start solved. Bond drops ~60% to ~5% as reputation rises — trust replaces capital.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Repayment enforceability. Escrow captures revenue, debt skimmed at source, slashable bond on default plus on-chain reputation hit.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containment. Six wallet-layer controls, all in Solidity. Scripted attack agent proves each reverts. 67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soundness. Four Sepolia contracts, 67 tests, Lyzr agent, two synced UIs. Limit is a live function of reputation.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Real-world plausibility. Maps to production primitives. Real Lyzr agent inside the containment system. Downside capped structurally.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457200" cy="45720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731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finora.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 · PS-1 · CREDIT FOR AUTONOMOUS AGENTS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that an AI agent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actually be trusted with.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44348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verifiable identity, reputation-based underwriting, and repayment enforced by smart contracts — so a lender can extend uncollateralized, contract-free credit to an autonomous agent and still be safe.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669280"/>
            <a:ext cx="4937760" cy="777240"/>
          </a:xfrm>
          <a:prstGeom prst="roundRect">
            <a:avLst>
              <a:gd name="adj" fmla="val 10588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6692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CityZen</a:t>
            </a:r>
            <a:pPr indent="0" marL="0">
              <a:buNone/>
            </a:pPr>
            <a:r>
              <a:rPr lang="en-US" sz="1100" b="1" dirty="0">
                <a:solidFill>
                  <a:srgbClr val="6E7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LEADER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Mukul</a:t>
            </a:r>
            <a:endParaRPr lang="en-US" sz="1100" dirty="0"/>
          </a:p>
        </p:txBody>
      </p:sp>
      <p:pic>
        <p:nvPicPr>
          <p:cNvPr id="9" name="Image 0" descr="/sessions/laughing-confident-hopper/mnt/Finora/docs/screenshots/conso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281160" y="1371600"/>
            <a:ext cx="2651760" cy="1764792"/>
          </a:xfrm>
          <a:prstGeom prst="ellipse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0" y="5989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on Sepolia · 4 contracts deployed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PAIN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financial system has no way to lend to an agent.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may need short-term working capital to finish a task before the value it creates is realized. But every existing lending mechanism assumes a borrower who can be identified, bound by contract, and chased for repayment. An autonomous agent has none of that.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6675120" cy="786384"/>
          </a:xfrm>
          <a:prstGeom prst="roundRect">
            <a:avLst>
              <a:gd name="adj" fmla="val 10465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4005072"/>
            <a:ext cx="365760" cy="365760"/>
          </a:xfrm>
          <a:prstGeom prst="ellipse">
            <a:avLst/>
          </a:prstGeom>
          <a:solidFill>
            <a:srgbClr val="2A1613"/>
          </a:solidFill>
          <a:ln w="12700">
            <a:solidFill>
              <a:srgbClr val="F068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3794760"/>
            <a:ext cx="5760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legal identity   </a:t>
            </a:r>
            <a:pPr indent="0" marL="0">
              <a:buNone/>
            </a:pPr>
            <a:r>
              <a:rPr lang="en-US" sz="130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name, no entity, nothing to hold accountable.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709160"/>
            <a:ext cx="6675120" cy="786384"/>
          </a:xfrm>
          <a:prstGeom prst="roundRect">
            <a:avLst>
              <a:gd name="adj" fmla="val 10465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4919472"/>
            <a:ext cx="365760" cy="365760"/>
          </a:xfrm>
          <a:prstGeom prst="ellipse">
            <a:avLst/>
          </a:prstGeom>
          <a:solidFill>
            <a:srgbClr val="2A1613"/>
          </a:solidFill>
          <a:ln w="12700">
            <a:solidFill>
              <a:srgbClr val="F068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919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4709160"/>
            <a:ext cx="5760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collateral   </a:t>
            </a:r>
            <a:pPr indent="0" marL="0">
              <a:buNone/>
            </a:pPr>
            <a:r>
              <a:rPr lang="en-US" sz="130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assets to pledge against a line of credit.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5623560"/>
            <a:ext cx="6675120" cy="786384"/>
          </a:xfrm>
          <a:prstGeom prst="roundRect">
            <a:avLst>
              <a:gd name="adj" fmla="val 10465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5833872"/>
            <a:ext cx="365760" cy="365760"/>
          </a:xfrm>
          <a:prstGeom prst="ellipse">
            <a:avLst/>
          </a:prstGeom>
          <a:solidFill>
            <a:srgbClr val="2A1613"/>
          </a:solidFill>
          <a:ln w="12700">
            <a:solidFill>
              <a:srgbClr val="F068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5833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0200" y="5623560"/>
            <a:ext cx="5760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sign a contract   </a:t>
            </a:r>
            <a:pPr indent="0" marL="0">
              <a:buNone/>
            </a:pPr>
            <a:r>
              <a:rPr lang="en-US" sz="130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binding agreement a lender could ever enforce.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18120" y="2240280"/>
            <a:ext cx="3566160" cy="4297680"/>
          </a:xfrm>
          <a:prstGeom prst="roundRect">
            <a:avLst>
              <a:gd name="adj" fmla="val 2308"/>
            </a:avLst>
          </a:prstGeom>
          <a:solidFill>
            <a:srgbClr val="16211C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92440" y="28803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6600" dirty="0"/>
          </a:p>
        </p:txBody>
      </p:sp>
      <p:sp>
        <p:nvSpPr>
          <p:cNvPr id="20" name="Text 18"/>
          <p:cNvSpPr/>
          <p:nvPr/>
        </p:nvSpPr>
        <p:spPr>
          <a:xfrm>
            <a:off x="8092440" y="3977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credit is available to an agent today — no matter how much value it could create.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92440" y="50749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“Lenders have no way to extend credit, and agents that could do valuable work are stuck waiting on funds they can't access.”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 turn an unknown agent into a bankable borrower.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policy object that decides how much an agent can borrow is the one that enforces how much it can spend — no gap between “approved to borrow” and “allowed to spend.”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7680960" cy="749808"/>
          </a:xfrm>
          <a:prstGeom prst="roundRect">
            <a:avLst>
              <a:gd name="adj" fmla="val 10976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51460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29000" y="2514600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EIP-712 owner→agent grants — signature-verified delegation from a named human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0" y="32461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22960" y="3364992"/>
            <a:ext cx="7680960" cy="749808"/>
          </a:xfrm>
          <a:prstGeom prst="roundRect">
            <a:avLst>
              <a:gd name="adj" fmla="val 10976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3547872"/>
            <a:ext cx="384048" cy="38404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336499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29000" y="3364992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on-chain score · principal-inheritance for cold-start · job/default history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0" y="409651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2960" y="4215384"/>
            <a:ext cx="7680960" cy="749808"/>
          </a:xfrm>
          <a:prstGeom prst="roundRect">
            <a:avLst>
              <a:gd name="adj" fmla="val 10976"/>
            </a:avLst>
          </a:prstGeom>
          <a:solidFill>
            <a:srgbClr val="16211C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398264"/>
            <a:ext cx="384048" cy="38404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00200" y="421538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429000" y="4215384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Reputation-scaled limit · slashable bond · repayment skimmed at source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0" y="494690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22960" y="5065776"/>
            <a:ext cx="7680960" cy="749808"/>
          </a:xfrm>
          <a:prstGeom prst="roundRect">
            <a:avLst>
              <a:gd name="adj" fmla="val 10976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" y="5248656"/>
            <a:ext cx="384048" cy="38404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00200" y="506577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429000" y="5065776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 · per-tx &amp; daily spend caps · in-flight revocation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0" y="5797296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22960" y="5916168"/>
            <a:ext cx="7680960" cy="749808"/>
          </a:xfrm>
          <a:prstGeom prst="roundRect">
            <a:avLst>
              <a:gd name="adj" fmla="val 10976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1560" y="6099048"/>
            <a:ext cx="384048" cy="38404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31" name="Text 29"/>
          <p:cNvSpPr/>
          <p:nvPr/>
        </p:nvSpPr>
        <p:spPr>
          <a:xfrm>
            <a:off x="1051560" y="6099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600200" y="591616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3429000" y="5916168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Guardians · automated circuit breaker · dead-man switch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778240" y="2514600"/>
            <a:ext cx="2606040" cy="4251960"/>
          </a:xfrm>
          <a:prstGeom prst="roundRect">
            <a:avLst>
              <a:gd name="adj" fmla="val 3158"/>
            </a:avLst>
          </a:prstGeom>
          <a:solidFill>
            <a:srgbClr val="16211C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684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Maps to what exists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0684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DIDs &amp; verifiable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06840" y="4160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Smart-contract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&amp; wallets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006840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Card-network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controls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006840" y="6080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layer is a primitive that already ships in production somewhere — recombined for agents.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JUDGING METRIC · TRUST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lending to this agent is a reasonable risk.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6035040" cy="1298448"/>
          </a:xfrm>
          <a:prstGeom prst="roundRect">
            <a:avLst>
              <a:gd name="adj" fmla="val 6338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221992"/>
            <a:ext cx="384048" cy="38404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1305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identity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00200" y="2496312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 signs a scoped, expiring EIP-712 grant; AgentWallet.sol recovers the signature on-chain. Authority is cryptographic delegation from a named human — not a bare address.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383280"/>
            <a:ext cx="6035040" cy="1298448"/>
          </a:xfrm>
          <a:prstGeom prst="roundRect">
            <a:avLst>
              <a:gd name="adj" fmla="val 6338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639312"/>
            <a:ext cx="384048" cy="38404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35478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without credit history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00200" y="3913632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 is built from behavior: task success rate, spend patterns, defaults — keyed to agent identity in ReputationRegistry.sol, readable by any lender.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800600"/>
            <a:ext cx="6035040" cy="1298448"/>
          </a:xfrm>
          <a:prstGeom prst="roundRect">
            <a:avLst>
              <a:gd name="adj" fmla="val 6338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5056632"/>
            <a:ext cx="384048" cy="38404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9651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solved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00200" y="5330952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Principal-inheritance lets a new agent inherit a slice of its owner's standing, so it isn't unbankable on day one.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86600" y="1965960"/>
            <a:ext cx="4297680" cy="4343400"/>
          </a:xfrm>
          <a:prstGeom prst="roundRect">
            <a:avLst>
              <a:gd name="adj" fmla="val 1915"/>
            </a:avLst>
          </a:prstGeom>
          <a:solidFill>
            <a:srgbClr val="16211C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substitutes for capital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0" y="24871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collateral bond as a share of the limit — it falls as reputation rises (computeBondRatio).</a:t>
            </a:r>
            <a:endParaRPr lang="en-US" sz="11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269480" y="3063240"/>
          <a:ext cx="39319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JUDGING METRIC · REPAYMENT ENFORCEABILITY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Repayment isn't promised. It's structurally unavoidable.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never touches gross revenue. Income routes through contracts that deduct debt before the agent can withdraw a cent.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834640"/>
            <a:ext cx="384048" cy="38404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31012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pays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3886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SettlementEscrow.sol — bound to the credit line. The agent has no address to redirect income to.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33672" y="2606040"/>
            <a:ext cx="2194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16552" y="26060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5152" y="2834640"/>
            <a:ext cx="384048" cy="38404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152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45152" y="331012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skimmed at source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45152" y="3886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CreditLine.sol deducts the outstanding balance from revenue before release.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27264" y="2606040"/>
            <a:ext cx="2194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010144" y="26060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38744" y="2834640"/>
            <a:ext cx="384048" cy="38404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9" name="Text 17"/>
          <p:cNvSpPr/>
          <p:nvPr/>
        </p:nvSpPr>
        <p:spPr>
          <a:xfrm>
            <a:off x="8238744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38744" y="331012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gets the remainder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38744" y="3886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what's left after the loan is serviced ever reaches the agent.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892040"/>
            <a:ext cx="10561320" cy="1463040"/>
          </a:xfrm>
          <a:prstGeom prst="roundRect">
            <a:avLst>
              <a:gd name="adj" fmla="val 5625"/>
            </a:avLst>
          </a:prstGeom>
          <a:solidFill>
            <a:srgbClr val="16211C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6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agent defaults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5440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reputation-scaled bond is slashed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the lender is made whole from posted collateral, and the default is written to on-chain reputation, so it follows the agent to every future lender. Recovery is automatic and contractual, never a negotiation.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JUDGING METRIC · RISK CONTAINMENT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 agent misbehaves, the wallet stops it — not a prompt.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control is enforced at the contract layer, independent of the agent's own logic. “Asking it nicely” is not a control.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3319272" cy="1170432"/>
          </a:xfrm>
          <a:prstGeom prst="roundRect">
            <a:avLst>
              <a:gd name="adj" fmla="val 7031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2596896"/>
            <a:ext cx="146304" cy="146304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7" name="Text 5"/>
          <p:cNvSpPr/>
          <p:nvPr/>
        </p:nvSpPr>
        <p:spPr>
          <a:xfrm>
            <a:off x="1298448" y="2514600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caps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42416" y="2880360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Per-tx and rolling daily limits revert on-chain (ExceedsPerTxLimit).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61104" y="2377440"/>
            <a:ext cx="3319272" cy="1170432"/>
          </a:xfrm>
          <a:prstGeom prst="roundRect">
            <a:avLst>
              <a:gd name="adj" fmla="val 7031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596896"/>
            <a:ext cx="146304" cy="146304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1" name="Text 9"/>
          <p:cNvSpPr/>
          <p:nvPr/>
        </p:nvSpPr>
        <p:spPr>
          <a:xfrm>
            <a:off x="4736592" y="2514600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Counterparty allowlist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80560" y="2880360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to any non-approved address revert (NotAllowlisted).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99248" y="2377440"/>
            <a:ext cx="3319272" cy="1170432"/>
          </a:xfrm>
          <a:prstGeom prst="roundRect">
            <a:avLst>
              <a:gd name="adj" fmla="val 7031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18704" y="2596896"/>
            <a:ext cx="146304" cy="146304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5" name="Text 13"/>
          <p:cNvSpPr/>
          <p:nvPr/>
        </p:nvSpPr>
        <p:spPr>
          <a:xfrm>
            <a:off x="8174736" y="2514600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kill switch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918704" y="2880360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owner action freezes the agent — no queue, no negotiation.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3666744"/>
            <a:ext cx="3319272" cy="1170432"/>
          </a:xfrm>
          <a:prstGeom prst="roundRect">
            <a:avLst>
              <a:gd name="adj" fmla="val 7031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" y="3886200"/>
            <a:ext cx="146304" cy="146304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9" name="Text 17"/>
          <p:cNvSpPr/>
          <p:nvPr/>
        </p:nvSpPr>
        <p:spPr>
          <a:xfrm>
            <a:off x="1298448" y="3803904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In-flight revocation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42416" y="416966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between propose and execute; the pending payment still reverts.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61104" y="3666744"/>
            <a:ext cx="3319272" cy="1170432"/>
          </a:xfrm>
          <a:prstGeom prst="roundRect">
            <a:avLst>
              <a:gd name="adj" fmla="val 7031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886200"/>
            <a:ext cx="146304" cy="146304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3" name="Text 21"/>
          <p:cNvSpPr/>
          <p:nvPr/>
        </p:nvSpPr>
        <p:spPr>
          <a:xfrm>
            <a:off x="4736592" y="3803904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480560" y="416966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roles can freeze but can never withdraw funds.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699248" y="3666744"/>
            <a:ext cx="3319272" cy="1170432"/>
          </a:xfrm>
          <a:prstGeom prst="roundRect">
            <a:avLst>
              <a:gd name="adj" fmla="val 7031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18704" y="3886200"/>
            <a:ext cx="146304" cy="146304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7" name="Text 25"/>
          <p:cNvSpPr/>
          <p:nvPr/>
        </p:nvSpPr>
        <p:spPr>
          <a:xfrm>
            <a:off x="8174736" y="3803904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Dead-man switch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918704" y="416966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silent owner auto-expires the agent's authority.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2960" y="5029200"/>
            <a:ext cx="10561320" cy="1325880"/>
          </a:xfrm>
          <a:prstGeom prst="roundRect">
            <a:avLst>
              <a:gd name="adj" fmla="val 6207"/>
            </a:avLst>
          </a:prstGeom>
          <a:solidFill>
            <a:srgbClr val="16211C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5193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Proven, not claimed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5532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demo:attack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runs a scripted attack agent against the real contract on a Hardhat EVM. Every violation — unlisted payee, over-cap spend, execute-after-freeze, a live reentrancy attempt — reverts with its own custom error. 67 on-chain tests cover 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JUDGING METRIC · TECHNICAL SOUNDNESS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and demoable — not a concept deck.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542032" cy="1371600"/>
          </a:xfrm>
          <a:prstGeom prst="roundRect">
            <a:avLst>
              <a:gd name="adj" fmla="val 6000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574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69848" y="276148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 live on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Sepolia testnet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93008" y="1920240"/>
            <a:ext cx="2542032" cy="1371600"/>
          </a:xfrm>
          <a:prstGeom prst="roundRect">
            <a:avLst>
              <a:gd name="adj" fmla="val 6000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21608" y="20574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739896" y="276148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tests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1920240"/>
            <a:ext cx="2542032" cy="1371600"/>
          </a:xfrm>
          <a:prstGeom prst="roundRect">
            <a:avLst>
              <a:gd name="adj" fmla="val 6000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20574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Lyzr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9944" y="276148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drives the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demo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33104" y="1920240"/>
            <a:ext cx="2542032" cy="1371600"/>
          </a:xfrm>
          <a:prstGeom prst="roundRect">
            <a:avLst>
              <a:gd name="adj" fmla="val 6000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1704" y="20574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79992" y="276148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synced surfaces: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+ phone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520440"/>
            <a:ext cx="6035040" cy="2788920"/>
          </a:xfrm>
          <a:prstGeom prst="roundRect">
            <a:avLst>
              <a:gd name="adj" fmla="val 2951"/>
            </a:avLst>
          </a:prstGeom>
          <a:solidFill>
            <a:srgbClr val="16211C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703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contracts (Ethereum Sepolia)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AgentWallet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0x45F1c7E0…B9103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4617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0x8Ee810D9…758cC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5120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ReputationRegistry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5120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0xe0F0Ab84…13c7e7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5623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SettlementEscrow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5623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0x10Cb2279…Fe98f4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59436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Solidity 0.8.26 · Hardhat · Next.js 16 · React 19 · TypeScript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95160" y="3520440"/>
            <a:ext cx="4389120" cy="2788920"/>
          </a:xfrm>
          <a:prstGeom prst="roundRect">
            <a:avLst>
              <a:gd name="adj" fmla="val 2951"/>
            </a:avLst>
          </a:prstGeom>
          <a:solidFill>
            <a:srgbClr val="16211C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limit scales with reputation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223760" y="39502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computeCreditTerms(score) — recomputed on every read, never frozen at approval.</a:t>
            </a:r>
            <a:endParaRPr lang="en-US" sz="10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7178040" y="4370832"/>
          <a:ext cx="4069080" cy="18470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JUDGING METRIC · REAL-WORLD PLAUSIBILITY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survives contact with real agents and real money.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6720840" cy="1371600"/>
          </a:xfrm>
          <a:prstGeom prst="roundRect">
            <a:avLst>
              <a:gd name="adj" fmla="val 6000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221992"/>
            <a:ext cx="384048" cy="38404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13055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exotic underneath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00200" y="2496312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→ DIDs. Enforcement → smart-contract wallets. Spend controls → card-network rails. Production primitives recombined, not invented magic.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447288"/>
            <a:ext cx="6720840" cy="1371600"/>
          </a:xfrm>
          <a:prstGeom prst="roundRect">
            <a:avLst>
              <a:gd name="adj" fmla="val 6000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703320"/>
            <a:ext cx="384048" cy="38404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3611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agent is in the loop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00200" y="397764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Lyzr Studio agent makes the borrow/spend/repay decisions — and its choices flow through the exact same policy a human click would. The agent can't bypass enforcement.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928616"/>
            <a:ext cx="6720840" cy="1371600"/>
          </a:xfrm>
          <a:prstGeom prst="roundRect">
            <a:avLst>
              <a:gd name="adj" fmla="val 6000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5184648"/>
            <a:ext cx="384048" cy="38404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50932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Lender-safe by construction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00200" y="545896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Uncollateralized where trust is earned, bonded where it isn't; revenue captured at source; instant revocation. Downside is capped by design, not by hoping the agent behaves.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1965960"/>
            <a:ext cx="3611880" cy="4434840"/>
          </a:xfrm>
          <a:prstGeom prst="roundRect">
            <a:avLst>
              <a:gd name="adj" fmla="val 2278"/>
            </a:avLst>
          </a:prstGeom>
          <a:solidFill>
            <a:srgbClr val="16211C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finora.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046720" y="2788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infrastructure for the agent economy.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0" y="3520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request credit, spend against it, break a rule, pull the kill switch — every panel reacts live.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46720" y="4892040"/>
            <a:ext cx="3063240" cy="1234440"/>
          </a:xfrm>
          <a:prstGeom prst="roundRect">
            <a:avLst>
              <a:gd name="adj" fmla="val 6667"/>
            </a:avLst>
          </a:prstGeom>
          <a:solidFill>
            <a:srgbClr val="121A17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50292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CityZen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 · Mukul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7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 · PS-1 · Live on Sepolia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2026-08-02T10:52:39Z</dcterms:created>
  <dcterms:modified xsi:type="dcterms:W3CDTF">2026-08-02T10:52:39Z</dcterms:modified>
</cp:coreProperties>
</file>